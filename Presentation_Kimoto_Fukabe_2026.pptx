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4918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384048" y="1078992"/>
            <a:ext cx="4389120" cy="228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384048" y="1170432"/>
            <a:ext cx="46634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Modernization and Integration</a:t>
            </a:r>
            <a:endParaRPr lang="en-US" sz="2400" dirty="0"/>
          </a:p>
          <a:p>
            <a:pPr marL="0" indent="0" algn="l">
              <a:lnSpc>
                <a:spcPct val="13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 New Graph-Based</a:t>
            </a:r>
            <a:endParaRPr lang="en-US" sz="2400" dirty="0"/>
          </a:p>
          <a:p>
            <a:pPr marL="0" indent="0" algn="l">
              <a:lnSpc>
                <a:spcPct val="13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Method</a:t>
            </a:r>
            <a:endParaRPr lang="en-US" sz="2400" dirty="0"/>
          </a:p>
          <a:p>
            <a:pPr marL="0" indent="0" algn="l">
              <a:lnSpc>
                <a:spcPct val="13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Survival 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4048" y="3438144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Yosuke Kimoto    Sena Fukabe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84048" y="387705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— Ecole Centrale de Nantes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420624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300" dirty="0"/>
          </a:p>
        </p:txBody>
      </p:sp>
      <p:pic>
        <p:nvPicPr>
          <p:cNvPr id="8" name="Image 0" descr="/Users/kimoto/graph_survival_analysis/Vanlentin's pipeline/patient_graph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5138928" y="320040"/>
            <a:ext cx="3657600" cy="41605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162E58"/>
          </a:solidFill>
          <a:ln w="12700">
            <a:solidFill>
              <a:srgbClr val="162E5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85917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384048" y="85917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877458"/>
            <a:ext cx="7882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Background: Survival Analysis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84048" y="151525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84048" y="15152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9536" y="1533540"/>
            <a:ext cx="7882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217133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384048" y="217133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9536" y="2189622"/>
            <a:ext cx="7882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Overview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07008" y="2573670"/>
            <a:ext cx="7534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 /  EPN  /  SurvivalDGM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" y="28274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384048" y="28274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9536" y="2845704"/>
            <a:ext cx="7882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07008" y="3229752"/>
            <a:ext cx="75346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Structure  •  Two-Stage Pipeline  •  Engineering Challenges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84048" y="348349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384048" y="348349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9536" y="3501786"/>
            <a:ext cx="7882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84048" y="41395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384048" y="41395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" y="4157868"/>
            <a:ext cx="78821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&amp; Future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Background: Survival Analysis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804672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75488" y="804672"/>
            <a:ext cx="44315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Survival Analysis?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" y="1133856"/>
            <a:ext cx="44132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predict S(t|x) — the probability that a patient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beyond time t given clinical features x.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censored observations — patients who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the study before experiencing the event.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ML cannot handle censoring directly.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84048" y="2883638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475488" y="2883638"/>
            <a:ext cx="44315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Metrics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" y="3231110"/>
            <a:ext cx="4413260" cy="566928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475488" y="3231110"/>
            <a:ext cx="50292" cy="5669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585216" y="3249398"/>
            <a:ext cx="4248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C-index (Concordance Index)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5216" y="3487142"/>
            <a:ext cx="42486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accuracy of predicted risk     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 = random  /  1.0 = perfect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" y="3871190"/>
            <a:ext cx="4413260" cy="566928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475488" y="3871190"/>
            <a:ext cx="50292" cy="5669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585216" y="3889478"/>
            <a:ext cx="42486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IBS (Integrated Brier Score)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5216" y="4127222"/>
            <a:ext cx="42486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squared prediction error vs. outcomes     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is better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98476" y="804672"/>
            <a:ext cx="3517880" cy="1298448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4998476" y="804672"/>
            <a:ext cx="50292" cy="129844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5108204" y="841248"/>
            <a:ext cx="3371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 Curve Concept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126492" y="1152144"/>
            <a:ext cx="3353288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S(t)↑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1.0 │╲ Low risk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│  ╲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0.5 │   ╲─── High risk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0.0 └──────────► 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98476" y="2249424"/>
            <a:ext cx="3517880" cy="1993392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4998476" y="2249424"/>
            <a:ext cx="50292" cy="199339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5108204" y="2286000"/>
            <a:ext cx="33715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METABRIC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26492" y="261518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Patients: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150620" y="2615184"/>
            <a:ext cx="2274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1,904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126492" y="301752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150620" y="3017520"/>
            <a:ext cx="2274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clinical variables (x0–x8)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26492" y="341985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rate: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150620" y="3419856"/>
            <a:ext cx="2274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~58%  (death = 1)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26492" y="382219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Evaluation: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150620" y="3822192"/>
            <a:ext cx="2274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5-fold cross-validation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804672"/>
            <a:ext cx="8375904" cy="822960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84048" y="804672"/>
            <a:ext cx="50292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21208" y="822960"/>
            <a:ext cx="819302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the Error Propagation Network (EPN)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existing PyTorch Lightning pipeline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84048" y="1755648"/>
            <a:ext cx="365760" cy="3657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84048" y="17556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1755648"/>
            <a:ext cx="78729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existing SurvivalDGM pipeline (5-fold CV)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84048" y="2267712"/>
            <a:ext cx="365760" cy="3657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384048" y="2267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2267712"/>
            <a:ext cx="78729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Oriane's MLP as a Lightning module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4048" y="2779776"/>
            <a:ext cx="365760" cy="3657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" y="27797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2779776"/>
            <a:ext cx="78729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patient similarity graph (PyTorch Geometric)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84048" y="3291840"/>
            <a:ext cx="365760" cy="3657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384048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9536" y="3291840"/>
            <a:ext cx="78729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Reimplement EPN as a tensor-only Lightning module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84048" y="3803904"/>
            <a:ext cx="365760" cy="36576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384048" y="38039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9536" y="3803904"/>
            <a:ext cx="78729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Hydra configuration management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Models at a Glance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86384"/>
            <a:ext cx="2743200" cy="475488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384048" y="7863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SurvivalDGM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4048" y="104241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Probabilistic Graph Model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128016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159105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baseline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191109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latent graph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23113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100 forward passes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255117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split for stable C-index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45536" y="786384"/>
            <a:ext cx="9144" cy="4046220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84048" y="4119372"/>
            <a:ext cx="2743200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384048" y="413766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C-index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" y="43388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0.6043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200400" y="786384"/>
            <a:ext cx="2743200" cy="4754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3200400" y="7863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200400" y="104241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Feedforward Neural Network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00400" y="128016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BEST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0" y="1280160"/>
            <a:ext cx="2194560" cy="23774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3474720" y="128016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BEST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73552" y="159105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of our pipeline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73552" y="191109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 9 → 64 → 64 → 1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73552" y="223113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Loss: CoxPH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61888" y="786384"/>
            <a:ext cx="9144" cy="4046220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3200400" y="4119372"/>
            <a:ext cx="2743200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3200400" y="413766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C-index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00400" y="43388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0.6495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016752" y="786384"/>
            <a:ext cx="2743200" cy="47548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6016752" y="7863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016752" y="104241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Attention Network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016752" y="128016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(this project)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89904" y="159105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of our pipeline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9904" y="191109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Corrects MLP predictions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089904" y="223113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k-NN neighbour errors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089904" y="2551176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Loss: CoxCC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016752" y="4119372"/>
            <a:ext cx="2743200" cy="530352"/>
          </a:xfrm>
          <a:prstGeom prst="rect">
            <a:avLst/>
          </a:prstGeom>
          <a:solidFill>
            <a:srgbClr val="EEF2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6016752" y="413766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C-index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016752" y="43388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0.6157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MLP Architecture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804672"/>
            <a:ext cx="3639678" cy="402336"/>
          </a:xfrm>
          <a:prstGeom prst="rect">
            <a:avLst/>
          </a:prstGeom>
          <a:solidFill>
            <a:srgbClr val="EBF5FB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384048" y="804672"/>
            <a:ext cx="363967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 (dim = 9)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983186" y="804672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clinical features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94743" y="1207008"/>
            <a:ext cx="18288" cy="253746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384048" y="1460754"/>
            <a:ext cx="363967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384048" y="1460754"/>
            <a:ext cx="363967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Linear(9 → 64) + ReLU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194743" y="1863090"/>
            <a:ext cx="18288" cy="253746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384048" y="2116836"/>
            <a:ext cx="363967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384048" y="2116836"/>
            <a:ext cx="363967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Linear(64 → 64) + ReLU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194743" y="2519172"/>
            <a:ext cx="18288" cy="253746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84048" y="2772918"/>
            <a:ext cx="363967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384048" y="2772918"/>
            <a:ext cx="363967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Linear(64 → 1)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974560" y="2772918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risk score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94743" y="3175254"/>
            <a:ext cx="18288" cy="253746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384048" y="3429000"/>
            <a:ext cx="363967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384048" y="3429000"/>
            <a:ext cx="363967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PyCox CoxPH wrapper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194743" y="3831336"/>
            <a:ext cx="18288" cy="253746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384048" y="4085082"/>
            <a:ext cx="3639678" cy="402336"/>
          </a:xfrm>
          <a:prstGeom prst="rect">
            <a:avLst/>
          </a:prstGeom>
          <a:solidFill>
            <a:srgbClr val="EBF5FB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384048" y="4085082"/>
            <a:ext cx="363967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S(t|x)  [N × T]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983186" y="4085082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 curves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30224" y="804672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4821664" y="804672"/>
            <a:ext cx="42640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Configuration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30226" y="1170432"/>
            <a:ext cx="435547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4803378" y="117043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function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93266" y="1170432"/>
            <a:ext cx="28009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CoxPH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30226" y="1554480"/>
            <a:ext cx="4355470" cy="365760"/>
          </a:xfrm>
          <a:prstGeom prst="rect">
            <a:avLst/>
          </a:prstGeom>
          <a:solidFill>
            <a:srgbClr val="F2F4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4803378" y="1554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193266" y="1554480"/>
            <a:ext cx="28009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30226" y="1938528"/>
            <a:ext cx="435547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4803378" y="193852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93266" y="1938528"/>
            <a:ext cx="28009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30226" y="2322576"/>
            <a:ext cx="4355470" cy="365760"/>
          </a:xfrm>
          <a:prstGeom prst="rect">
            <a:avLst/>
          </a:prstGeom>
          <a:solidFill>
            <a:srgbClr val="F2F4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4803378" y="232257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193266" y="2322576"/>
            <a:ext cx="28009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0.001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30226" y="2706624"/>
            <a:ext cx="435547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4803378" y="270662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decay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193266" y="2706624"/>
            <a:ext cx="28009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0.0005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30226" y="3090672"/>
            <a:ext cx="4355470" cy="365760"/>
          </a:xfrm>
          <a:prstGeom prst="rect">
            <a:avLst/>
          </a:prstGeom>
          <a:solidFill>
            <a:srgbClr val="F2F4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4803378" y="30906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193266" y="3090672"/>
            <a:ext cx="280099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5-fold CV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30226" y="3529584"/>
            <a:ext cx="4355470" cy="640080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49"/>
          <p:cNvSpPr/>
          <p:nvPr/>
        </p:nvSpPr>
        <p:spPr>
          <a:xfrm>
            <a:off x="4730226" y="3529584"/>
            <a:ext cx="50292" cy="64008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2" name="Text 50"/>
          <p:cNvSpPr/>
          <p:nvPr/>
        </p:nvSpPr>
        <p:spPr>
          <a:xfrm>
            <a:off x="4858242" y="3566160"/>
            <a:ext cx="41908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S(t|x): survival probability at ~1,391 discrete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points per patient  →  used as EPN input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Error Propagation Network (EPN)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86384"/>
            <a:ext cx="8375904" cy="7498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84048" y="786384"/>
            <a:ext cx="50292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12064" y="804672"/>
            <a:ext cx="8211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Idea: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" y="1060704"/>
            <a:ext cx="82113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MLP consistently misestimates survival for patients similar to patient A,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can correct A's prediction using those neighbour errors.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" y="1664208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1655064"/>
            <a:ext cx="8010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k=10 nearest neighbours in the k-NN graph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84048" y="2111012"/>
            <a:ext cx="8375904" cy="914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384048" y="2147588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2138444"/>
            <a:ext cx="8010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MLP prediction error for each neighbour j: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2394476"/>
            <a:ext cx="8010144" cy="201168"/>
          </a:xfrm>
          <a:prstGeom prst="rect">
            <a:avLst/>
          </a:prstGeom>
          <a:solidFill>
            <a:srgbClr val="EAECEE"/>
          </a:solidFill>
          <a:ln w="12700">
            <a:solidFill>
              <a:srgbClr val="EAECE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822960" y="2394476"/>
            <a:ext cx="7918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error_j(t) = true_survival_j(t) − MLP_pred_j(t)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4048" y="2741033"/>
            <a:ext cx="8375904" cy="914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384048" y="2777609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2768465"/>
            <a:ext cx="8010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attention weights (learned Key/Query projections):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024497"/>
            <a:ext cx="8010144" cy="201168"/>
          </a:xfrm>
          <a:prstGeom prst="rect">
            <a:avLst/>
          </a:prstGeom>
          <a:solidFill>
            <a:srgbClr val="EAECEE"/>
          </a:solidFill>
          <a:ln w="12700">
            <a:solidFill>
              <a:srgbClr val="EAECE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822960" y="3024497"/>
            <a:ext cx="7918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att_j = softmax( (W_q · feat_A) · (W_k · feat_j) / √F 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84048" y="3371055"/>
            <a:ext cx="8375904" cy="914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384048" y="3407631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1520" y="3398487"/>
            <a:ext cx="8010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correction term: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3654519"/>
            <a:ext cx="8010144" cy="201168"/>
          </a:xfrm>
          <a:prstGeom prst="rect">
            <a:avLst/>
          </a:prstGeom>
          <a:solidFill>
            <a:srgbClr val="EAECEE"/>
          </a:solidFill>
          <a:ln w="12700">
            <a:solidFill>
              <a:srgbClr val="EAECE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822960" y="3654519"/>
            <a:ext cx="7918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correction(t) = Σ_j  att_j × error_j(t)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" y="4001076"/>
            <a:ext cx="8375904" cy="914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384048" y="4037652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4028508"/>
            <a:ext cx="80101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Corrected prediction: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1520" y="4284540"/>
            <a:ext cx="8010144" cy="201168"/>
          </a:xfrm>
          <a:prstGeom prst="rect">
            <a:avLst/>
          </a:prstGeom>
          <a:solidFill>
            <a:srgbClr val="EAECEE"/>
          </a:solidFill>
          <a:ln w="12700">
            <a:solidFill>
              <a:srgbClr val="EAECE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3"/>
          <p:cNvSpPr/>
          <p:nvPr/>
        </p:nvSpPr>
        <p:spPr>
          <a:xfrm>
            <a:off x="822960" y="4284540"/>
            <a:ext cx="7918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S_corrected_A(t) = MLP_pred_A(t) + correction(t)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" y="4552074"/>
            <a:ext cx="8375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loss: CoxCC (Case-Control Cox approximation)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Structure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86384"/>
            <a:ext cx="8375904" cy="3643884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75488" y="822960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Vanlentin's pipeline/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021334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configs/                       [Configuration]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488" y="1219708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experiment/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418082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└── ★ run_epn.yaml        Hydra main config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5488" y="1616456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model/ { mlp.yaml, epn.yaml 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5488" y="1814830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src/survival_analysis/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2013204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data/                      [Data Layer]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5488" y="2211578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├──   metabric_datamodule.py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5488" y="2409952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├── ★ graph_builder.py        k-NN similarity graph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608326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└── ★ epn_datamodule.py       MLP curves + graph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5488" y="2806700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models/                    [Model Layer]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75488" y="3005074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├── ★ mlp_module.py           MLP LightningModule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5488" y="3203448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├── ★ epn_module.py           EPN graph attention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5488" y="3401822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└──   dgm_model.py            SurvivalDGM (existing)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5488" y="3600196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experiments/              [Experiment Scripts]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" y="3798570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★ run_mlp.py              Train MLP (5 splits)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5488" y="3996944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★ run_epn_v2.py           Full MLP+EPN pipeline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5488" y="4195318"/>
            <a:ext cx="8238744" cy="198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└── ★ visualize.py            Graph &amp; survival plots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84048" y="4430268"/>
            <a:ext cx="8375904" cy="310896"/>
          </a:xfrm>
          <a:prstGeom prst="rect">
            <a:avLst/>
          </a:prstGeom>
          <a:solidFill>
            <a:srgbClr val="EEF2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521208" y="4430268"/>
            <a:ext cx="376915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Gray = Existing (Valentin's code)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53205" y="4430268"/>
            <a:ext cx="41879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Blue = Added by this project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 Pipeline Architecture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58952"/>
            <a:ext cx="6030651" cy="1627403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84048" y="758952"/>
            <a:ext cx="50292" cy="1627403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12064" y="786384"/>
            <a:ext cx="58660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MLP Training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" y="1097280"/>
            <a:ext cx="5866059" cy="11702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DataModule:  MetabricGraphSurvivalDataModule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↓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MLPModule:   110 epochs  |  CoxPH loss  |  Adam lr=0.001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↓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Evaluate:    CoxPH wrapper → C-index, IBS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90229" y="2404643"/>
            <a:ext cx="18288" cy="128016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384048" y="2532659"/>
            <a:ext cx="603065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mlp.freeze()  — weights permanently locked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84048" y="2761257"/>
            <a:ext cx="6030651" cy="2009151"/>
          </a:xfrm>
          <a:prstGeom prst="rect">
            <a:avLst/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  <p:txBody>
          <a:bodyPr/>
          <a:lstStyle/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</p:txBody>
      </p:sp>
      <p:sp>
        <p:nvSpPr>
          <p:cNvPr id="17" name="Shape 15"/>
          <p:cNvSpPr/>
          <p:nvPr/>
        </p:nvSpPr>
        <p:spPr>
          <a:xfrm>
            <a:off x="384048" y="2761257"/>
            <a:ext cx="50292" cy="2009151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12064" y="2816121"/>
            <a:ext cx="58660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EPN Training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" y="3308163"/>
            <a:ext cx="5866059" cy="11884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EPNDataModule.setup():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• Pre-compute MLP curves for all patients  [N_all, T]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• Build training k-NN graph  → train_nn_idx  [1523, 10]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• Build val k-NN graph       → val_nn_idx   [1904, 10]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↓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EPNModule:  50 epochs  |  CoxCC loss  |  Adam lr=0.001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↓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Evaluate:   EvalSurv → C-index, IBS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51859" y="758952"/>
            <a:ext cx="2208093" cy="914400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6551859" y="758952"/>
            <a:ext cx="50292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6643299" y="804672"/>
            <a:ext cx="207093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5-fold CV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43299" y="1115568"/>
            <a:ext cx="2070933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Train: ~1,523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Val:     ~381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Similarity Graph Construction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804672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75488" y="804672"/>
            <a:ext cx="3426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84048" y="1152144"/>
            <a:ext cx="3517880" cy="3607308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75488" y="1188720"/>
            <a:ext cx="3380720" cy="35250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● feat_B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●────Patient A────●  feat_D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\     (k=10 neighbours)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● feat_C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Metric: cosine similarity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(scale-invariant across features)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993368" y="804672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4084808" y="804672"/>
            <a:ext cx="44315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993368" y="1152144"/>
            <a:ext cx="45229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4066520" y="115214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73528" y="1152144"/>
            <a:ext cx="31513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Geometric (PyG)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93368" y="1499616"/>
            <a:ext cx="4522988" cy="329184"/>
          </a:xfrm>
          <a:prstGeom prst="rect">
            <a:avLst/>
          </a:prstGeom>
          <a:solidFill>
            <a:srgbClr val="F2F4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4066520" y="1499616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73528" y="1499616"/>
            <a:ext cx="31513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 similarity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93368" y="1847088"/>
            <a:ext cx="45229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066520" y="184708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Neighbours 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73528" y="1847088"/>
            <a:ext cx="31513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per patient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993368" y="2194560"/>
            <a:ext cx="4522988" cy="329184"/>
          </a:xfrm>
          <a:prstGeom prst="rect">
            <a:avLst/>
          </a:prstGeom>
          <a:solidFill>
            <a:srgbClr val="F2F4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4066520" y="219456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Self-loop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73528" y="2194560"/>
            <a:ext cx="31513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Excluded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993368" y="2542032"/>
            <a:ext cx="45229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4066520" y="2542032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273528" y="2542032"/>
            <a:ext cx="31513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edge_index [2, N×10]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93368" y="2926080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4084808" y="2926080"/>
            <a:ext cx="44315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Separate Graphs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993368" y="3273552"/>
            <a:ext cx="4522988" cy="475488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Shape 32"/>
          <p:cNvSpPr/>
          <p:nvPr/>
        </p:nvSpPr>
        <p:spPr>
          <a:xfrm>
            <a:off x="3993368" y="3273552"/>
            <a:ext cx="50292" cy="4754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3"/>
          <p:cNvSpPr/>
          <p:nvPr/>
        </p:nvSpPr>
        <p:spPr>
          <a:xfrm>
            <a:off x="4121384" y="3310128"/>
            <a:ext cx="43583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Training:  1,523 train patients → train patients only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993368" y="3822192"/>
            <a:ext cx="4522988" cy="594360"/>
          </a:xfrm>
          <a:prstGeom prst="rect">
            <a:avLst/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3993368" y="3822192"/>
            <a:ext cx="50292" cy="5943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4121384" y="3849624"/>
            <a:ext cx="435839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  All 1,904 patients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 patients attend to TRAIN errors only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Prevents data leakage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Challenge ①: Removing the DataFrame Dependency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" y="1517904"/>
            <a:ext cx="4133088" cy="1938528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384048" y="1517904"/>
            <a:ext cx="41330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Before  (Bad Practice)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" y="1837944"/>
            <a:ext cx="3995928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forward(self,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df: pd.DataFrame,  ← !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nn_idx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Parses column names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incompatible with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8B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Lightning pipeline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26864" y="1517904"/>
            <a:ext cx="4133088" cy="1938528"/>
          </a:xfrm>
          <a:prstGeom prst="rect">
            <a:avLst/>
          </a:prstGeom>
          <a:solidFill>
            <a:srgbClr val="E8F8F5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4626864" y="1517904"/>
            <a:ext cx="41330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After  (Refactored)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18304" y="1837944"/>
            <a:ext cx="3995928" cy="1517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5A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forward(self,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5A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features,    # [N,  9]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5A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surv_preds,  # [N,  T]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5A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labels,      # [N,  2]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5A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nn_idx,      # [N, 10]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5A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test_idx, val_idx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5A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5A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Pure tensor interface 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84048" y="3511296"/>
            <a:ext cx="8375904" cy="603504"/>
          </a:xfrm>
          <a:prstGeom prst="rect">
            <a:avLst/>
          </a:prstGeom>
          <a:solidFill>
            <a:srgbClr val="EAECEE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475488" y="3566160"/>
            <a:ext cx="823874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DataLoader yields:  { "features":[N,9]  "surv_preds":[N,T]  "labels":[N,2]  "nn_idx":[N,10] }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Challenge ②: Out-of-Memory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68096"/>
            <a:ext cx="8375904" cy="566928"/>
          </a:xfrm>
          <a:prstGeom prst="rect">
            <a:avLst/>
          </a:prstGeom>
          <a:solidFill>
            <a:srgbClr val="FDEDEC"/>
          </a:solidFill>
          <a:ln w="12700">
            <a:solidFill>
              <a:srgbClr val="FDED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84048" y="768096"/>
            <a:ext cx="50292" cy="56692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12064" y="786384"/>
            <a:ext cx="8211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approach: compute attention over ALL patients simultaneously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" y="1033272"/>
            <a:ext cx="8211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4C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Tensor: [1,523 × 1,523 × 1,391]  →  ~12.9 GB  ✗  OOM CRASH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1463040"/>
            <a:ext cx="4096512" cy="987552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384048" y="1463040"/>
            <a:ext cx="50292" cy="9875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512064" y="151790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①: Mini-batching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2064" y="1810512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256 randomly selected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patients per step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[256, 256, 1391]  ≈  363 MB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17136" y="1463040"/>
            <a:ext cx="10972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663440" y="1463040"/>
            <a:ext cx="4096512" cy="987552"/>
          </a:xfrm>
          <a:prstGeom prst="rect">
            <a:avLst/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4663440" y="1463040"/>
            <a:ext cx="50292" cy="9875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4791456" y="151790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②: Graph-constrained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91456" y="1810512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 only to k=10 pre-selected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neighbours (not all N patients)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[256, 10, 1391]  ≈  14 MB  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4048" y="2578608"/>
            <a:ext cx="837590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57200" y="2578608"/>
            <a:ext cx="36853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236964" y="2578608"/>
            <a:ext cx="23452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 Shape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65976" y="2578608"/>
            <a:ext cx="20102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84048" y="2852928"/>
            <a:ext cx="8375904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36853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patients, full attention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36964" y="2852928"/>
            <a:ext cx="21777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[1523, 1523, 1391]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65976" y="2852928"/>
            <a:ext cx="184269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~12.9 GB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" y="3154680"/>
            <a:ext cx="8375904" cy="292608"/>
          </a:xfrm>
          <a:prstGeom prst="rect">
            <a:avLst/>
          </a:prstGeom>
          <a:solidFill>
            <a:srgbClr val="F2F4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457200" y="3154680"/>
            <a:ext cx="36853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Mini-batch (256), full att.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36964" y="3154680"/>
            <a:ext cx="21777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[ 256,  256, 1391]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65976" y="3154680"/>
            <a:ext cx="184269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~363 MB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84048" y="3456432"/>
            <a:ext cx="8375904" cy="292608"/>
          </a:xfrm>
          <a:prstGeom prst="rect">
            <a:avLst/>
          </a:prstGeom>
          <a:solidFill>
            <a:srgbClr val="E8F8F5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457200" y="3456432"/>
            <a:ext cx="36853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Mini-batch (256) + graph  ★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236964" y="3456432"/>
            <a:ext cx="21777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[ 256,   10, 1391]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65976" y="3456432"/>
            <a:ext cx="184269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~14 MB 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84048" y="3794760"/>
            <a:ext cx="8375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26× memory reduction vs. mini-batch alone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Hydra Configuration Management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68096"/>
            <a:ext cx="4522988" cy="4064508"/>
          </a:xfrm>
          <a:prstGeom prst="rect">
            <a:avLst/>
          </a:prstGeom>
          <a:solidFill>
            <a:srgbClr val="EAECEE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75488" y="804672"/>
            <a:ext cx="43858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configs/experiment/run_epn.yaml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" y="1078992"/>
            <a:ext cx="4340108" cy="3616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mlp: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hidden_dim: 64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epochs:     110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optimizer: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lr:           0.001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weight_decay: 0.0005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epn: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epochs:        50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learning_rate: 0.001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alpha: 0.0    # L1 regularization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beta:  0.0    # L2 regularization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graph: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k:      10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metric: cosine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98476" y="829514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5089916" y="829514"/>
            <a:ext cx="3426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Overrides — no source code changes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98476" y="1219079"/>
            <a:ext cx="3517880" cy="1524109"/>
          </a:xfrm>
          <a:prstGeom prst="rect">
            <a:avLst/>
          </a:prstGeom>
          <a:solidFill>
            <a:srgbClr val="EAECEE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5089916" y="1427150"/>
            <a:ext cx="33807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neighbourhood size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...run_epn_v2 \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graph.k=20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Extend EPN training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...run_epn_v2 \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epn.epochs=100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98476" y="2841183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089916" y="2841183"/>
            <a:ext cx="3426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98476" y="3170367"/>
            <a:ext cx="351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No source code changes for experiments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98476" y="3590991"/>
            <a:ext cx="351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Reproducible experiment configurations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98476" y="4011615"/>
            <a:ext cx="351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Consistent with the pipeline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98476" y="4432239"/>
            <a:ext cx="351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Grid search via multirun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Patient Similarity Graph Visualization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pic>
        <p:nvPicPr>
          <p:cNvPr id="10" name="Image 0" descr="/Users/kimoto/graph_survival_analysis/Vanlentin's pipeline/patient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879" y="768096"/>
            <a:ext cx="6868241" cy="292475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137879" y="768096"/>
            <a:ext cx="6868241" cy="2924754"/>
          </a:xfrm>
          <a:prstGeom prst="rect">
            <a:avLst/>
          </a:prstGeom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/>
          <p:nvPr/>
        </p:nvSpPr>
        <p:spPr>
          <a:xfrm>
            <a:off x="384048" y="3766002"/>
            <a:ext cx="8375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Patient Similarity Graph (k-NN, k=10, cosine similarity)  |  PCA 2D projection — PC1: 30.2%, PC2: 17.9%     ● Censored (blue)     ● Event/death (orange)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84048" y="4095186"/>
            <a:ext cx="8375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Event and censored groups are interleaved  →  No clear separation in feature space  →  Consistent with modest C-index values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84048" y="4369506"/>
            <a:ext cx="8375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Dense cluster (centre): patients with average clinical profiles     • Peripheral points: extreme feature values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Survival Curve 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pic>
        <p:nvPicPr>
          <p:cNvPr id="10" name="Image 0" descr="/Users/kimoto/graph_survival_analysis/Vanlentin's pipeline/survival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758952"/>
            <a:ext cx="7370796" cy="28835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86602" y="758952"/>
            <a:ext cx="7370796" cy="2883560"/>
          </a:xfrm>
          <a:prstGeom prst="rect">
            <a:avLst/>
          </a:prstGeom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/>
          <p:nvPr/>
        </p:nvSpPr>
        <p:spPr>
          <a:xfrm>
            <a:off x="384048" y="3706520"/>
            <a:ext cx="8375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── MLP baseline (green)     - - EPN corrected (orange)     ┊ Observed event/censoring time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84048" y="3980840"/>
            <a:ext cx="8375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patients (top): EPN shifts survival curve downward after event time  →  error signal from similar neighbours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84048" y="4236872"/>
            <a:ext cx="8375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Censored patients (bottom): correction is more moderate  →  weaker error signal for censored observations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Quantitative Performance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68096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75488" y="768096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vs EPN — Per Fold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84048" y="1097280"/>
            <a:ext cx="8375904" cy="2651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20624" y="1097280"/>
            <a:ext cx="4937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9264" y="1097280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C-index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43784" y="1097280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IBS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43984" y="1097280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C-index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8504" y="1097280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IBS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4048" y="1362456"/>
            <a:ext cx="8375904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420624" y="1362456"/>
            <a:ext cx="4937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9264" y="1362456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0.6546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843784" y="1362456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0.1718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43984" y="1362456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0.5879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8504" y="1362456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0.1818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4048" y="1627632"/>
            <a:ext cx="8375904" cy="265176"/>
          </a:xfrm>
          <a:prstGeom prst="rect">
            <a:avLst/>
          </a:prstGeom>
          <a:solidFill>
            <a:srgbClr val="F5F5F5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420624" y="1627632"/>
            <a:ext cx="4937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9264" y="1627632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0.6486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43784" y="1627632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0.1558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43984" y="1627632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0.6345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8504" y="1627632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0.1606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84048" y="1892808"/>
            <a:ext cx="8375904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420624" y="1892808"/>
            <a:ext cx="4937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69264" y="1892808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0.6332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843784" y="1892808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0.1777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443984" y="1892808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0.6055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18504" y="1892808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0.1822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84048" y="2157984"/>
            <a:ext cx="8375904" cy="265176"/>
          </a:xfrm>
          <a:prstGeom prst="rect">
            <a:avLst/>
          </a:prstGeom>
          <a:solidFill>
            <a:srgbClr val="F5F5F5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5"/>
          <p:cNvSpPr/>
          <p:nvPr/>
        </p:nvSpPr>
        <p:spPr>
          <a:xfrm>
            <a:off x="420624" y="2157984"/>
            <a:ext cx="4937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69264" y="2157984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0.6578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43784" y="2157984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0.1685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443984" y="2157984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0.6347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18504" y="2157984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0.1822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84048" y="2423160"/>
            <a:ext cx="8375904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3" name="Text 41"/>
          <p:cNvSpPr/>
          <p:nvPr/>
        </p:nvSpPr>
        <p:spPr>
          <a:xfrm>
            <a:off x="420624" y="2423160"/>
            <a:ext cx="4937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9264" y="2423160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0.6491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843784" y="2423160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0.1605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443984" y="2423160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0.6171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18504" y="2423160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0.1778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84048" y="2688336"/>
            <a:ext cx="8375904" cy="265176"/>
          </a:xfrm>
          <a:prstGeom prst="rect">
            <a:avLst/>
          </a:prstGeom>
          <a:solidFill>
            <a:srgbClr val="EBF5FB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9" name="Text 47"/>
          <p:cNvSpPr/>
          <p:nvPr/>
        </p:nvSpPr>
        <p:spPr>
          <a:xfrm>
            <a:off x="420624" y="2688336"/>
            <a:ext cx="598758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969264" y="2688336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0.6487±0.009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2843784" y="2688336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0.1669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443984" y="2688336"/>
            <a:ext cx="18196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0.6159±0.018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318504" y="2688336"/>
            <a:ext cx="154533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0.1769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384048" y="3136392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5" name="Text 53"/>
          <p:cNvSpPr/>
          <p:nvPr/>
        </p:nvSpPr>
        <p:spPr>
          <a:xfrm>
            <a:off x="475488" y="3136392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Three-Model Comparison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384048" y="3447288"/>
            <a:ext cx="8375904" cy="2651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Text 55"/>
          <p:cNvSpPr/>
          <p:nvPr/>
        </p:nvSpPr>
        <p:spPr>
          <a:xfrm>
            <a:off x="420624" y="3447288"/>
            <a:ext cx="23225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2798064" y="3447288"/>
            <a:ext cx="195681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C-index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809744" y="3447288"/>
            <a:ext cx="15910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IBS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455664" y="3447288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" y="3712464"/>
            <a:ext cx="8375904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2" name="Text 60"/>
          <p:cNvSpPr/>
          <p:nvPr/>
        </p:nvSpPr>
        <p:spPr>
          <a:xfrm>
            <a:off x="420624" y="3712464"/>
            <a:ext cx="23225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SurvivalDGM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8064" y="3712464"/>
            <a:ext cx="195681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0.6043±0.024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809744" y="3712464"/>
            <a:ext cx="15910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0.1754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455664" y="3712464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baseline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84048" y="3977640"/>
            <a:ext cx="8375904" cy="265176"/>
          </a:xfrm>
          <a:prstGeom prst="rect">
            <a:avLst/>
          </a:prstGeom>
          <a:solidFill>
            <a:srgbClr val="FEF9E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7" name="Text 65"/>
          <p:cNvSpPr/>
          <p:nvPr/>
        </p:nvSpPr>
        <p:spPr>
          <a:xfrm>
            <a:off x="420624" y="3977640"/>
            <a:ext cx="23225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(Stage 1)  ★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798064" y="3977640"/>
            <a:ext cx="195681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0.6495±0.010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809744" y="3977640"/>
            <a:ext cx="15910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0.1664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455664" y="3977640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BEST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" y="4242816"/>
            <a:ext cx="8375904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70"/>
          <p:cNvSpPr/>
          <p:nvPr/>
        </p:nvSpPr>
        <p:spPr>
          <a:xfrm>
            <a:off x="420624" y="4242816"/>
            <a:ext cx="232257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(this work)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2798064" y="4242816"/>
            <a:ext cx="195681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0.6157±0.016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809744" y="4242816"/>
            <a:ext cx="1591056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0.1769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6455664" y="4242816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SurvivalDGM ✓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Why EPN Does Not Yet Surpass the MLP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86384"/>
            <a:ext cx="8375904" cy="804672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84048" y="786384"/>
            <a:ext cx="50292" cy="8046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12064" y="804672"/>
            <a:ext cx="82113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MLP is a strong baseline for METABRIC (n≈1,900, 9 features).</a:t>
            </a:r>
            <a:endParaRPr lang="en-US" sz="1300" dirty="0"/>
          </a:p>
          <a:p>
            <a:pPr marL="0" indent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dataset + appropriate survival loss (CoxPH) = already competitive.</a:t>
            </a:r>
            <a:endParaRPr lang="en-US" sz="1300" dirty="0"/>
          </a:p>
          <a:p>
            <a:pPr marL="0" indent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Graph-based population methods tend to excel on larger datasets (e.g., SUPPORT: n≈9,000).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" y="1737360"/>
            <a:ext cx="347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1737360"/>
            <a:ext cx="8010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Hyperparameters are untuned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2029968"/>
            <a:ext cx="78729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k=10, 50 epochs, default lr — no systematic search performed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84048" y="2428875"/>
            <a:ext cx="8375904" cy="914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384048" y="2520315"/>
            <a:ext cx="347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2520315"/>
            <a:ext cx="8010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similarity ≠ error similarity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59536" y="2812923"/>
            <a:ext cx="78729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Clinically similar patients may differ in prediction errors due to complex biological interactions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" y="3211830"/>
            <a:ext cx="8375904" cy="914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384048" y="3303270"/>
            <a:ext cx="347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1520" y="3303270"/>
            <a:ext cx="8010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training data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" y="3595878"/>
            <a:ext cx="78729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~1,523 training patients may not provide diverse enough error signals for graph correction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84048" y="3994785"/>
            <a:ext cx="8375904" cy="914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384048" y="4086225"/>
            <a:ext cx="347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1520" y="4086225"/>
            <a:ext cx="8010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function mismatch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9536" y="4378833"/>
            <a:ext cx="78729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uses CoxPH; EPN uses CoxCC → Difficult to isolate the graph correction's contribution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Improvements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822960"/>
            <a:ext cx="8375904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75488" y="8229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52928" y="822960"/>
            <a:ext cx="5815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Improvement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84048" y="1115568"/>
            <a:ext cx="8375904" cy="717804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2834640" y="1115568"/>
            <a:ext cx="9144" cy="71780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475488" y="1115568"/>
            <a:ext cx="2286000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size (k)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1115568"/>
            <a:ext cx="5742432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search: k ∈ {5, 10, 20, 50}  —  Larger k may provide richer error signals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" y="1851660"/>
            <a:ext cx="8375904" cy="717804"/>
          </a:xfrm>
          <a:prstGeom prst="rect">
            <a:avLst/>
          </a:prstGeom>
          <a:solidFill>
            <a:srgbClr val="F2F4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834640" y="1851660"/>
            <a:ext cx="9144" cy="71780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475488" y="1851660"/>
            <a:ext cx="2286000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epochs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926080" y="1851660"/>
            <a:ext cx="5742432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convergence test with 100+ epochs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" y="2587752"/>
            <a:ext cx="8375904" cy="717804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2834640" y="2587752"/>
            <a:ext cx="9144" cy="71780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75488" y="2587752"/>
            <a:ext cx="2286000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alignment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926080" y="2587752"/>
            <a:ext cx="5742432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CoxPH for EPN to enable direct comparison with MLP baseline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84048" y="3323844"/>
            <a:ext cx="8375904" cy="717804"/>
          </a:xfrm>
          <a:prstGeom prst="rect">
            <a:avLst/>
          </a:prstGeom>
          <a:solidFill>
            <a:srgbClr val="F2F4F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2834640" y="3323844"/>
            <a:ext cx="9144" cy="71780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475488" y="3323844"/>
            <a:ext cx="2286000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construction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926080" y="3323844"/>
            <a:ext cx="5742432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Feature-importance-weighted similarity or end-to-end learned graph edges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84048" y="4059936"/>
            <a:ext cx="8375904" cy="717804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2834640" y="4059936"/>
            <a:ext cx="9144" cy="717804"/>
          </a:xfrm>
          <a:prstGeom prst="rect">
            <a:avLst/>
          </a:prstGeom>
          <a:solidFill>
            <a:srgbClr val="BDC3C7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475488" y="4059936"/>
            <a:ext cx="2286000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scale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926080" y="4059936"/>
            <a:ext cx="5742432" cy="7178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on SUPPORT (n≈9,000) where population-based corrections are more effective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86384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75488" y="786384"/>
            <a:ext cx="44315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Achievements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" y="1133856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6656" y="1133856"/>
            <a:ext cx="420294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fully reimplemented as tensor-only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LightningModule (DataFrame-free)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" y="2011680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76656" y="2011680"/>
            <a:ext cx="420294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Memory: ~12.9 GB → ~14 MB  (26× reduction)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graph-constrained attention + mini-batching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" y="2889504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76656" y="2889504"/>
            <a:ext cx="420294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Hydra configuration management integrated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reproducible, CLI-configurable experiments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4048" y="3767328"/>
            <a:ext cx="292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6656" y="3767328"/>
            <a:ext cx="420294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codebase consistent with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Valentin's existing pipeline conventions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98476" y="786384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5089916" y="786384"/>
            <a:ext cx="3426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98476" y="1170432"/>
            <a:ext cx="3517880" cy="502920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4998476" y="1170432"/>
            <a:ext cx="50292" cy="5029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5126492" y="1207008"/>
            <a:ext cx="3353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(Stage 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26492" y="1444752"/>
            <a:ext cx="33532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C-index = 0.6495 ★ Best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98476" y="1737360"/>
            <a:ext cx="351788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4998476" y="1737360"/>
            <a:ext cx="50292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5126492" y="1773936"/>
            <a:ext cx="3353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(this work)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6492" y="2011680"/>
            <a:ext cx="33532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C-index = 0.6157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998476" y="2304288"/>
            <a:ext cx="351788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4998476" y="2304288"/>
            <a:ext cx="50292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5126492" y="2340864"/>
            <a:ext cx="3353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SurvivalDGM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6492" y="2578608"/>
            <a:ext cx="33532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C-index = 0.6043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998476" y="2980944"/>
            <a:ext cx="3517880" cy="1815084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4998476" y="2980944"/>
            <a:ext cx="50292" cy="18150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5126492" y="3054096"/>
            <a:ext cx="3353288" cy="17053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surpasses SurvivalDGM baseline.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small datasets like METABRIC,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 tuning is essential.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promising next step: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graph size k and EPN epochs.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84048" y="822960"/>
            <a:ext cx="8375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Blondel, O. (2022). surv_epn: Error Propagation Network for survival analysis. INSA Lyon.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84048" y="1316736"/>
            <a:ext cx="8375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Curtis, C. et al. (2012). The genomic and transcriptomic architecture of 2,000 breast tumours. Nature, 486, 346–352.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4048" y="1810512"/>
            <a:ext cx="8375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Kvamme, H., Borgan, O., &amp; Scheel, I. (2019). Time-to-event prediction with neural networks and Cox regression. JMLR, 20(129), 1–30.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84048" y="2304288"/>
            <a:ext cx="8375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Falcon, W. et al. (2019). PyTorch Lightning. GitHub.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4048" y="2798064"/>
            <a:ext cx="8375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Fey, M. &amp; Lenssen, J. E. (2019). Fast Graph Representation Learning with PyTorch Geometric. ICLR Workshop.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84048" y="3291840"/>
            <a:ext cx="8375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Yao, D. et al. (2023). Hydra: A framework for elegant experiment management. Meta AI.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4048" y="3785616"/>
            <a:ext cx="8375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 Katzman, J. L. et al. (2018). DeepSurv: personalized treatment recommender system using Cox deep neural network. BMC Medical Research Methodology, 18(1), 24.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CoxPH vs CoxCC Details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/ B4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68096"/>
            <a:ext cx="4119372" cy="3982212"/>
          </a:xfrm>
          <a:prstGeom prst="rect">
            <a:avLst/>
          </a:prstGeom>
          <a:solidFill>
            <a:srgbClr val="EBF5F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75488" y="804672"/>
            <a:ext cx="39822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CoxPH — used by MLP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" y="1124712"/>
            <a:ext cx="3982212" cy="3479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 likelihood: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L(β) = Π_i exp(f(x_i)) /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Σ_{j: t_j≥t_i} exp(f(x_j))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set = all patients not yet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at time t_i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Handles censored data naturally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Expensive for large 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40580" y="768096"/>
            <a:ext cx="4119372" cy="3982212"/>
          </a:xfrm>
          <a:prstGeom prst="rect">
            <a:avLst/>
          </a:prstGeom>
          <a:solidFill>
            <a:srgbClr val="E8F8F5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4732020" y="804672"/>
            <a:ext cx="39822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CoxCC — used by EPN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32020" y="1124712"/>
            <a:ext cx="3982212" cy="3479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Case-Control approximation: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 full risk set with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random sample of controls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Reduces computation while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approximating CoxPH gradient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approach for large-scale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survival deep learning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Data Leakage Prevention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/ B4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86384"/>
            <a:ext cx="8375904" cy="640080"/>
          </a:xfrm>
          <a:prstGeom prst="rect">
            <a:avLst/>
          </a:prstGeom>
          <a:solidFill>
            <a:srgbClr val="FDEDEC"/>
          </a:solidFill>
          <a:ln w="12700">
            <a:solidFill>
              <a:srgbClr val="FDED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84048" y="786384"/>
            <a:ext cx="50292" cy="64008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12064" y="804672"/>
            <a:ext cx="8211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Data Leakage Risk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" y="1060704"/>
            <a:ext cx="8211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validation patients attend to each other's errors → information from val set leaks into the model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4048" y="1554480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475488" y="155448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Separate Graphs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84048" y="1901952"/>
            <a:ext cx="3936675" cy="1005840"/>
          </a:xfrm>
          <a:prstGeom prst="rect">
            <a:avLst/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384048" y="1901952"/>
            <a:ext cx="50292" cy="10058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12064" y="1929384"/>
            <a:ext cx="37720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Graph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2064" y="2221992"/>
            <a:ext cx="3772083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patients → Train patients only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(intra-training neighbourhood)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 patients involved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23277" y="1901952"/>
            <a:ext cx="3936675" cy="1005840"/>
          </a:xfrm>
          <a:prstGeom prst="rect">
            <a:avLst/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823277" y="1901952"/>
            <a:ext cx="50292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4951293" y="1929384"/>
            <a:ext cx="37720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Graph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51293" y="2221992"/>
            <a:ext cx="3772083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 patients → Train patients only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Val patients CANNOT attend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 other val patients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84048" y="3054096"/>
            <a:ext cx="8375904" cy="658368"/>
          </a:xfrm>
          <a:prstGeom prst="rect">
            <a:avLst/>
          </a:prstGeom>
          <a:solidFill>
            <a:srgbClr val="EAECEE"/>
          </a:solidFill>
          <a:ln w="12700">
            <a:solidFill>
              <a:srgbClr val="EAECE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384048" y="3054096"/>
            <a:ext cx="50292" cy="6583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512064" y="3072384"/>
            <a:ext cx="821131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EPNDataModule.setup():  val_nn_idx indices always point to training patients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no information leakage across the train/val boundary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SurvivalDGM Evaluation Details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 / B4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86384"/>
            <a:ext cx="50292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75488" y="786384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SurvivalDGM requires 100 forward passes per split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84048" y="1152144"/>
            <a:ext cx="8375904" cy="1371600"/>
          </a:xfrm>
          <a:prstGeom prst="rect">
            <a:avLst/>
          </a:prstGeom>
          <a:solidFill>
            <a:srgbClr val="FDEDEC"/>
          </a:solidFill>
          <a:ln w="12700">
            <a:solidFill>
              <a:srgbClr val="FDED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84048" y="1152144"/>
            <a:ext cx="50292" cy="1371600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512064" y="1188720"/>
            <a:ext cx="8211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SurvivalDGM: Stochastic Graph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" y="1481328"/>
            <a:ext cx="821131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SurvivalDGM learns a latent graph — each edge is sampled stochastically (Bernoulli)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Every forward pass produces a different graph structure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Single-pass C-index is unstable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average C-index over 100 forward passes per split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" y="2688336"/>
            <a:ext cx="8375904" cy="1280160"/>
          </a:xfrm>
          <a:prstGeom prst="rect">
            <a:avLst/>
          </a:prstGeom>
          <a:solidFill>
            <a:srgbClr val="E8F8F5"/>
          </a:solidFill>
          <a:ln w="12700">
            <a:solidFill>
              <a:srgbClr val="E8F8F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384048" y="2688336"/>
            <a:ext cx="50292" cy="12801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12064" y="2724912"/>
            <a:ext cx="8211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EPN: Deterministic Fixed Graph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2064" y="3017520"/>
            <a:ext cx="82113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uses a fixed k-NN graph: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Deterministic: same graph every pass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Single forward pass = stable C-index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No repeated sampling required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3657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28016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Full Hydra Config Tree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040880" y="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EPN Integration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84048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Kimoto &amp; Fukabe — ECN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0" y="48326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 / B4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0" y="483260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ECN | Ecole Centrale de Nantes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84048" y="786384"/>
            <a:ext cx="8375904" cy="3991356"/>
          </a:xfrm>
          <a:prstGeom prst="rect">
            <a:avLst/>
          </a:prstGeom>
          <a:solidFill>
            <a:srgbClr val="EAECEE"/>
          </a:solidFill>
          <a:ln w="12700">
            <a:solidFill>
              <a:srgbClr val="BDC3C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48640" y="841248"/>
            <a:ext cx="8156448" cy="38999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configs/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experiment/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run_epn.yaml           # Main experiment config (Hydra entry)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model/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mlp.yaml               # MLP-specific hyperparameters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epn.yaml               # EPN-specific hyperparameters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metabric.yaml          # Dataset &amp; cross-validation settings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trainer/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default.yaml           # Lightning Trainer defaults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gpu.yaml               # GPU-specific override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callbacks/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model_checkpoint.yaml  # Checkpoint saving config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early_stopping.yaml    # Early stopping config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Composability: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python -m ...run_epn_v2 trainer=gpu data=metabric graph.k=20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3043</Words>
  <Application>Microsoft Macintosh PowerPoint</Application>
  <PresentationFormat>画面に合わせる (16:9)</PresentationFormat>
  <Paragraphs>589</Paragraphs>
  <Slides>24</Slides>
  <Notes>24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27" baseType="lpstr">
      <vt:lpstr>Arial</vt:lpstr>
      <vt:lpstr>Courier New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Modernization and Integration of a New Graph-Based Deep Learning Method for Survival Analysis</dc:title>
  <dc:subject>PptxGenJS Presentation</dc:subject>
  <dc:creator>Yosuke Kimoto, Sena Fukabe</dc:creator>
  <cp:lastModifiedBy>木本　耀介</cp:lastModifiedBy>
  <cp:revision>2</cp:revision>
  <dcterms:created xsi:type="dcterms:W3CDTF">2026-06-24T18:08:51Z</dcterms:created>
  <dcterms:modified xsi:type="dcterms:W3CDTF">2026-06-24T18:52:27Z</dcterms:modified>
</cp:coreProperties>
</file>